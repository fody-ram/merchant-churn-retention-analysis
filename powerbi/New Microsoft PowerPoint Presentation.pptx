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D1"/>
    <a:srgbClr val="FFDDDD"/>
    <a:srgbClr val="FF9B9B"/>
    <a:srgbClr val="FFC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5DE46-E072-29C6-519D-92F20F0C8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FF2A6-6103-D64E-5D45-A7E53842A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9AA72-FC9D-D982-786A-3BC9532E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48863-FFF1-C735-2045-EC6082414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13BDE-AA83-BDCC-DD9B-CB65497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7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02A91-A6CB-94C4-FDF5-A18098BF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DC06-209E-8FFE-80DA-CEF53DD97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42015-EE9B-02AA-1FAA-C5C0F4E8A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CD53A-E6BE-D383-09C7-890C26953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9E771-2253-D23E-34B2-736CF054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1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8750-D456-E5FD-0FC7-8CC191AE1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0A100-3131-A110-A476-ABD9AC77D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2D182-1FAD-A831-CBD9-6446C9C9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B9967-050B-F4D9-0D50-22A718DC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736F3-891E-CC70-128B-5E58DC16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0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A598-1922-3937-CD39-D564C7A5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F2C06-675B-9F10-8A75-FEA3EA3E8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D2AA0-3B98-5B1E-5405-23432662A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25743-0E41-A24F-1084-AE503332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FF4A2-EC0A-B99B-E5A7-0A1917BC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CBFA1-5B86-63FE-98E9-A0C59DA6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7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A4DA-59F0-E992-C8D2-0346E3B5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BEA3D-977D-3E98-2A1C-136E00792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4FB44-8C2E-C7FC-28C4-3B4335E28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28696-5674-11DB-709D-8E8660CA9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08378-8D83-7613-8516-669BCD736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9F318-AEC1-7DB1-4708-8DF83BA5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6EC98-017F-6E81-183D-C6A01BCD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2351F-93C7-D95F-F5C7-790F445E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1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EF71-40BE-6730-EDC6-29FE6D1B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AB512-417C-36D6-63D5-8D461E32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3FF39-DDD6-37F9-0820-C397CC65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B8513-73BA-561A-4FF3-94DAA6651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6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C0EEC4-6897-20FE-1124-5DF1C0E3D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BE6EC-3408-A016-34DA-94FDF8F8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C4C28-8D02-BCDF-16F9-E0315E20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5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2C05-120F-106D-C192-1C8F4DBE9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B17DE-B57A-E3BE-9B5F-564084F3E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6D194-FA59-B206-2FE6-9C073822E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081E6-2844-B009-7108-9790B584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6940D-7989-CD2B-74CF-52C8F7670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38D47-779B-448D-1D37-C4937971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66C8-59E5-8A35-30C9-2F6895B89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FB0FA9-71D3-1377-7913-B7DDEC654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B9C2A-8F05-0D8C-01D6-96D5D600A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3ECB2-5445-063F-7BEF-31B63934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77B2C-BF2B-0FD6-60D8-4D06F32F6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9FCDD-B045-5FE4-6066-A00F6873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1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457F-017C-4591-9DE9-296825909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2B1AD-03FE-4814-F939-FA63D55FD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1835F-CE1D-EC0C-03D0-CF9484A7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4A95A-3E78-2766-4D30-030937E31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F0E85-019B-B078-E46C-1198DBC0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8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70533-A0A0-C6F3-DC8C-C78D1AD66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03EB0-9E2B-2A72-A6E9-4679E30C2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E9D64-044F-3324-4C36-AC8A27C2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293AB-50A4-B71A-6814-63F4B488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75E99-4556-7FC2-79F0-6E6F2A81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1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FA129-C552-5C74-C348-92359937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2B13F-1CC6-0556-A657-B77B4D8F9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99A9C-2EB4-8223-15A9-2339D59C9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78B3D-4974-4726-A0D0-5FFBA5F61D0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80AA3-B7C1-0F81-AF00-106674E1F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5AAAC-E105-124D-72AC-96BD901FC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2228E-D92B-4639-BD16-A735A081D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5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8040-E01B-1498-0A48-9BCF6DBD3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70162-5D61-6FB4-74EB-4E0817C40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E3AFDC-3AF2-BCB2-D01D-B5B5398A1D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D1D1"/>
              </a:gs>
              <a:gs pos="83000">
                <a:srgbClr val="FFD1D1"/>
              </a:gs>
              <a:gs pos="100000">
                <a:srgbClr val="FFDDDD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6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88936886-244D-A9DF-469E-C4C3F72DD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875341"/>
              </p:ext>
            </p:extLst>
          </p:nvPr>
        </p:nvGraphicFramePr>
        <p:xfrm>
          <a:off x="643467" y="1089993"/>
          <a:ext cx="10905067" cy="467801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2028738">
                  <a:extLst>
                    <a:ext uri="{9D8B030D-6E8A-4147-A177-3AD203B41FA5}">
                      <a16:colId xmlns:a16="http://schemas.microsoft.com/office/drawing/2014/main" val="362215851"/>
                    </a:ext>
                  </a:extLst>
                </a:gridCol>
                <a:gridCol w="802143">
                  <a:extLst>
                    <a:ext uri="{9D8B030D-6E8A-4147-A177-3AD203B41FA5}">
                      <a16:colId xmlns:a16="http://schemas.microsoft.com/office/drawing/2014/main" val="1532410328"/>
                    </a:ext>
                  </a:extLst>
                </a:gridCol>
                <a:gridCol w="4045739">
                  <a:extLst>
                    <a:ext uri="{9D8B030D-6E8A-4147-A177-3AD203B41FA5}">
                      <a16:colId xmlns:a16="http://schemas.microsoft.com/office/drawing/2014/main" val="1648736078"/>
                    </a:ext>
                  </a:extLst>
                </a:gridCol>
                <a:gridCol w="4028447">
                  <a:extLst>
                    <a:ext uri="{9D8B030D-6E8A-4147-A177-3AD203B41FA5}">
                      <a16:colId xmlns:a16="http://schemas.microsoft.com/office/drawing/2014/main" val="1344395498"/>
                    </a:ext>
                  </a:extLst>
                </a:gridCol>
              </a:tblGrid>
              <a:tr h="3518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0" cap="none" spc="0">
                          <a:solidFill>
                            <a:schemeClr val="bg1"/>
                          </a:solidFill>
                          <a:effectLst/>
                        </a:rPr>
                        <a:t>Metric</a:t>
                      </a:r>
                    </a:p>
                  </a:txBody>
                  <a:tcPr marL="96633" marR="12976" marT="74333" marB="7433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0" cap="none" spc="0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</a:p>
                  </a:txBody>
                  <a:tcPr marL="96633" marR="12976" marT="74333" marB="7433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0" cap="none" spc="0">
                          <a:solidFill>
                            <a:schemeClr val="bg1"/>
                          </a:solidFill>
                          <a:effectLst/>
                        </a:rPr>
                        <a:t>Definition</a:t>
                      </a:r>
                    </a:p>
                  </a:txBody>
                  <a:tcPr marL="96633" marR="12976" marT="74333" marB="7433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0" cap="none" spc="0">
                          <a:solidFill>
                            <a:schemeClr val="bg1"/>
                          </a:solidFill>
                          <a:effectLst/>
                        </a:rPr>
                        <a:t>Why it matters</a:t>
                      </a:r>
                    </a:p>
                  </a:txBody>
                  <a:tcPr marL="96633" marR="12976" marT="74333" marB="7433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286334"/>
                  </a:ext>
                </a:extLst>
              </a:tr>
              <a:tr h="5459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Churn Rate %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Churn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% of merchants who have stopped transacting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Churned ÷ Total Merchants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Core health metric — high churn means the business is losing customers faster than it grows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333223"/>
                  </a:ext>
                </a:extLst>
              </a:tr>
              <a:tr h="5459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Retention Rate %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Retention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% of merchants still active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Active Merchants ÷ Total Merchants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Opposite of churn — shows how well the business keeps its merchants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972080"/>
                  </a:ext>
                </a:extLst>
              </a:tr>
              <a:tr h="5459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Active Merchant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Activity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A merchant who has transacted within the observation period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Is_Active = True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Defines who is still engaged with the business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24029"/>
                  </a:ext>
                </a:extLst>
              </a:tr>
              <a:tr h="5459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Churned Merchant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Churn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A merchant who has not transacted recently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Is_Active = False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Identifies lost customers who may need re-engagement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193836"/>
                  </a:ext>
                </a:extLst>
              </a:tr>
              <a:tr h="5459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Tenure (Months)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Activity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How many months since a merchant's first transaction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Derived from First_Transaction date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Longer tenure generally means higher loyalty — short tenure + churn = early dropout risk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809341"/>
                  </a:ext>
                </a:extLst>
              </a:tr>
              <a:tr h="52528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Days Since Last Transaction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Churn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Number of days since the merchant last placed an order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Key churn signal — the higher this number, the more at-risk the merchant is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29844"/>
                  </a:ext>
                </a:extLst>
              </a:tr>
              <a:tr h="5459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Avg Order Value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Value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Average spend per transaction for a merchant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Total Spend ÷ Total Transactions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Measures merchant quality — high AOV merchants are more valuable even if fewer in number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865067"/>
                  </a:ext>
                </a:extLst>
              </a:tr>
              <a:tr h="52528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Cohort Month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  <a:effectLst/>
                        </a:rPr>
                        <a:t>Retention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The month a merchant placed their first transaction — used to group merchants by when they joined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cap="none" spc="0" dirty="0">
                          <a:solidFill>
                            <a:schemeClr val="tx1"/>
                          </a:solidFill>
                          <a:effectLst/>
                        </a:rPr>
                        <a:t>Allows comparison of retention across different joining periods to spot onboarding improvements</a:t>
                      </a:r>
                    </a:p>
                  </a:txBody>
                  <a:tcPr marL="96633" marR="12976" marT="74333" marB="7433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80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08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5EA381-6B92-1A37-F33F-4FD05155F3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640272"/>
              </p:ext>
            </p:extLst>
          </p:nvPr>
        </p:nvGraphicFramePr>
        <p:xfrm>
          <a:off x="210820" y="416026"/>
          <a:ext cx="11770360" cy="6162577"/>
        </p:xfrm>
        <a:graphic>
          <a:graphicData uri="http://schemas.openxmlformats.org/drawingml/2006/table">
            <a:tbl>
              <a:tblPr/>
              <a:tblGrid>
                <a:gridCol w="2623820">
                  <a:extLst>
                    <a:ext uri="{9D8B030D-6E8A-4147-A177-3AD203B41FA5}">
                      <a16:colId xmlns:a16="http://schemas.microsoft.com/office/drawing/2014/main" val="2734387408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1066759237"/>
                    </a:ext>
                  </a:extLst>
                </a:gridCol>
                <a:gridCol w="3710940">
                  <a:extLst>
                    <a:ext uri="{9D8B030D-6E8A-4147-A177-3AD203B41FA5}">
                      <a16:colId xmlns:a16="http://schemas.microsoft.com/office/drawing/2014/main" val="3569042479"/>
                    </a:ext>
                  </a:extLst>
                </a:gridCol>
                <a:gridCol w="4175760">
                  <a:extLst>
                    <a:ext uri="{9D8B030D-6E8A-4147-A177-3AD203B41FA5}">
                      <a16:colId xmlns:a16="http://schemas.microsoft.com/office/drawing/2014/main" val="549970949"/>
                    </a:ext>
                  </a:extLst>
                </a:gridCol>
              </a:tblGrid>
              <a:tr h="2901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cap="all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Metric</a:t>
                      </a:r>
                    </a:p>
                  </a:txBody>
                  <a:tcPr marL="15962" marR="15962" marT="12770" marB="1277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cap="all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Category</a:t>
                      </a:r>
                    </a:p>
                  </a:txBody>
                  <a:tcPr marL="15962" marR="15962" marT="12770" marB="1277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cap="all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Definition</a:t>
                      </a:r>
                    </a:p>
                  </a:txBody>
                  <a:tcPr marL="15962" marR="15962" marT="12770" marB="1277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cap="all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Why it matters</a:t>
                      </a:r>
                    </a:p>
                  </a:txBody>
                  <a:tcPr marL="15962" marR="15962" marT="12770" marB="1277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050864"/>
                  </a:ext>
                </a:extLst>
              </a:tr>
              <a:tr h="81886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Churn Rate %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EE8884"/>
                          </a:solidFill>
                          <a:effectLst/>
                        </a:rPr>
                        <a:t>Churn</a:t>
                      </a:r>
                      <a:endParaRPr lang="en-US" sz="1600" dirty="0">
                        <a:solidFill>
                          <a:srgbClr val="FAF9F5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% of merchants who have stopped transacting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Churned ÷ Total Merchants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Core health metric — high churn means the business is losing customers faster than it grows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798326"/>
                  </a:ext>
                </a:extLst>
              </a:tr>
              <a:tr h="58358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Retention Rate %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>
                          <a:solidFill>
                            <a:srgbClr val="7AB948"/>
                          </a:solidFill>
                          <a:effectLst/>
                        </a:rPr>
                        <a:t>Retention</a:t>
                      </a:r>
                      <a:endParaRPr lang="en-US" sz="1600">
                        <a:solidFill>
                          <a:srgbClr val="FAF9F5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% of merchants still active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Active Merchants ÷ Total Merchants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Opposite of churn — shows how well the business keeps its merchants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630640"/>
                  </a:ext>
                </a:extLst>
              </a:tr>
              <a:tr h="84622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Active Merchant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>
                          <a:solidFill>
                            <a:srgbClr val="80AADD"/>
                          </a:solidFill>
                          <a:effectLst/>
                        </a:rPr>
                        <a:t>Activity</a:t>
                      </a:r>
                      <a:endParaRPr lang="en-US" sz="1600">
                        <a:solidFill>
                          <a:srgbClr val="FAF9F5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A merchant who has transacted within the observation period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Is_Active = True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Defines who is still engaged with the business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749536"/>
                  </a:ext>
                </a:extLst>
              </a:tr>
              <a:tr h="58358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Churned Merchant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>
                          <a:solidFill>
                            <a:srgbClr val="EE8884"/>
                          </a:solidFill>
                          <a:effectLst/>
                        </a:rPr>
                        <a:t>Churn</a:t>
                      </a:r>
                      <a:endParaRPr lang="en-US" sz="1600">
                        <a:solidFill>
                          <a:srgbClr val="FAF9F5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A merchant who has not transacted recently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Is_Active = False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Identifies lost customers who may need re-engagement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582118"/>
                  </a:ext>
                </a:extLst>
              </a:tr>
              <a:tr h="84622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Tenure (Months)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80AADD"/>
                          </a:solidFill>
                          <a:effectLst/>
                        </a:rPr>
                        <a:t>Activity</a:t>
                      </a:r>
                      <a:endParaRPr lang="en-US" sz="1600" dirty="0">
                        <a:solidFill>
                          <a:srgbClr val="FAF9F5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How many months since a merchant's first transaction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Derived from First_Transaction date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Longer tenure generally means higher loyalty — short tenure + churn = early dropout risk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910521"/>
                  </a:ext>
                </a:extLst>
              </a:tr>
              <a:tr h="55622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Days Since Last Transaction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EE8884"/>
                          </a:solidFill>
                          <a:effectLst/>
                        </a:rPr>
                        <a:t>Churn</a:t>
                      </a:r>
                      <a:endParaRPr lang="en-US" sz="1600" dirty="0">
                        <a:solidFill>
                          <a:srgbClr val="FAF9F5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Number of days since the merchant last placed an order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Key churn signal — the higher this number, the more at-risk the merchant is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15527"/>
                  </a:ext>
                </a:extLst>
              </a:tr>
              <a:tr h="81886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Avg Order Value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D1A041"/>
                          </a:solidFill>
                          <a:effectLst/>
                        </a:rPr>
                        <a:t>Value</a:t>
                      </a:r>
                      <a:endParaRPr lang="en-US" sz="1600" dirty="0">
                        <a:solidFill>
                          <a:srgbClr val="FAF9F5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Average spend per transaction for a merchant</a:t>
                      </a:r>
                    </a:p>
                    <a:p>
                      <a:pPr fontAlgn="t">
                        <a:spcBef>
                          <a:spcPts val="150"/>
                        </a:spcBef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Total Spend ÷ Total Transactions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Measures merchant quality — high AOV merchants are more valuable even if fewer in number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25472"/>
                  </a:ext>
                </a:extLst>
              </a:tr>
              <a:tr h="81886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Cohort Month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7AB948"/>
                          </a:solidFill>
                          <a:effectLst/>
                        </a:rPr>
                        <a:t>Retention</a:t>
                      </a:r>
                      <a:endParaRPr lang="en-US" sz="1600" dirty="0">
                        <a:solidFill>
                          <a:srgbClr val="FAF9F5"/>
                        </a:solidFill>
                        <a:effectLst/>
                      </a:endParaRP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The month a merchant placed their first transaction — used to group merchants by when they joined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Allows comparison of retention across different joining periods to spot onboarding improvements</a:t>
                      </a:r>
                    </a:p>
                  </a:txBody>
                  <a:tcPr marL="15962" marR="15962" marT="14366" marB="14366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143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827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474</Words>
  <Application>Microsoft Office PowerPoint</Application>
  <PresentationFormat>Widescreen</PresentationFormat>
  <Paragraphs>84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Fadwa Ramadan</dc:creator>
  <cp:lastModifiedBy>Fadwa Ramadan</cp:lastModifiedBy>
  <cp:revision>2</cp:revision>
  <dcterms:created xsi:type="dcterms:W3CDTF">2026-05-31T10:20:31Z</dcterms:created>
  <dcterms:modified xsi:type="dcterms:W3CDTF">2026-06-03T18:45:38Z</dcterms:modified>
</cp:coreProperties>
</file>